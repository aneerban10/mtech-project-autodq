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7/12/2025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7/12/2025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7/12/2025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7/12/2025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7/12/2025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7/12/2025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7/12/2025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7/12/2025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7/12/2025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7/12/2025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7/12/2025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7/12/2025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119148" y="319549"/>
            <a:ext cx="6546671" cy="3686015"/>
          </a:xfrm>
        </p:spPr>
        <p:txBody>
          <a:bodyPr>
            <a:normAutofit fontScale="90000"/>
          </a:bodyPr>
          <a:lstStyle/>
          <a:p>
            <a:r>
              <a:rPr lang="en-IN" sz="5400" dirty="0" err="1"/>
              <a:t>AutoDQ</a:t>
            </a:r>
            <a:r>
              <a:rPr lang="en-IN" sz="5400" dirty="0"/>
              <a:t>: A Configurable DSL Framework for Enterprise Data Quality Validation</a:t>
            </a:r>
            <a:endParaRPr lang="en-US" sz="5000"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Autofit/>
          </a:bodyPr>
          <a:lstStyle/>
          <a:p>
            <a:r>
              <a:rPr lang="en-US" sz="1800" dirty="0"/>
              <a:t>Aneerban Chowdhury, M24DE3011</a:t>
            </a:r>
          </a:p>
          <a:p>
            <a:r>
              <a:rPr lang="en-US" sz="1800" dirty="0"/>
              <a:t>MTech in Data Engineering, IIT Jodhpur</a:t>
            </a:r>
          </a:p>
          <a:p>
            <a:r>
              <a:rPr lang="en-US" sz="1800" dirty="0"/>
              <a:t>Supervisor: Dr. </a:t>
            </a:r>
            <a:r>
              <a:rPr lang="en-US" sz="1800" dirty="0" err="1"/>
              <a:t>Gourhari</a:t>
            </a:r>
            <a:r>
              <a:rPr lang="en-US" sz="1800" dirty="0"/>
              <a:t> </a:t>
            </a:r>
            <a:r>
              <a:rPr lang="en-US" sz="1800" dirty="0" err="1"/>
              <a:t>GhosH</a:t>
            </a:r>
            <a:endParaRPr lang="en-US" sz="1800" dirty="0"/>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D097E-DAF4-B96E-B54F-A1B3FFC44F72}"/>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DD94E2B1-CFA8-6D06-9A2C-BD639E29D1B5}"/>
              </a:ext>
            </a:extLst>
          </p:cNvPr>
          <p:cNvSpPr>
            <a:spLocks noGrp="1"/>
          </p:cNvSpPr>
          <p:nvPr>
            <p:ph idx="1"/>
          </p:nvPr>
        </p:nvSpPr>
        <p:spPr/>
        <p:txBody>
          <a:bodyPr>
            <a:noAutofit/>
          </a:bodyPr>
          <a:lstStyle/>
          <a:p>
            <a:pPr algn="just"/>
            <a:r>
              <a:rPr lang="en-US" sz="1700" dirty="0"/>
              <a:t>In modern data ecosystems, ensuring the quality, integrity, and compliance of data is paramount. However, defining and validating data quality (DQ) rules across diverse pipelines remains largely ad-hoc and hardcoded. This project introduces a </a:t>
            </a:r>
            <a:r>
              <a:rPr lang="en-US" sz="1700" b="1" dirty="0"/>
              <a:t>declarative, domain-agnostic, and extensible data quality framework</a:t>
            </a:r>
            <a:r>
              <a:rPr lang="en-US" sz="1700" dirty="0"/>
              <a:t> driven by a </a:t>
            </a:r>
            <a:r>
              <a:rPr lang="en-US" sz="1700" b="1" dirty="0"/>
              <a:t>custom, configurable and scalable YAML/JSON-based DSL, i.e. Domain-Specific Language.</a:t>
            </a:r>
            <a:br>
              <a:rPr lang="en-US" sz="1700" dirty="0"/>
            </a:br>
            <a:br>
              <a:rPr lang="en-US" sz="1700" dirty="0"/>
            </a:br>
            <a:r>
              <a:rPr lang="en-US" sz="1700" dirty="0"/>
              <a:t>The framework allows users to define expressive DQ rules without programming, and supports validations such as schema constraints, inter-field logic, pattern matching, outlier checks, and temporal validations. A modular rule execution engine interprets the DSL and applies the rules across varied data sources.</a:t>
            </a:r>
          </a:p>
          <a:p>
            <a:pPr algn="just"/>
            <a:r>
              <a:rPr lang="en-US" sz="1700" dirty="0"/>
              <a:t>Additionally, a profiling-based auto-rule suggestion module aids rapid onboarding for new datasets, and a lightweight reporting interface provides summaries, logs, and DQ health scores. The system is designed to be extendable as a plug-in for orchestration tools like Airflow or </a:t>
            </a:r>
            <a:r>
              <a:rPr lang="en-US" sz="1700" dirty="0" err="1"/>
              <a:t>dbt</a:t>
            </a:r>
            <a:r>
              <a:rPr lang="en-US" sz="1700" dirty="0"/>
              <a:t>. The resulting solution significantly reduces time-to-insight, enforces governance at scale, and empowers technical and business users to collaboratively manage data quality.</a:t>
            </a:r>
            <a:endParaRPr lang="en-IN" sz="1700" dirty="0"/>
          </a:p>
        </p:txBody>
      </p:sp>
    </p:spTree>
    <p:extLst>
      <p:ext uri="{BB962C8B-B14F-4D97-AF65-F5344CB8AC3E}">
        <p14:creationId xmlns:p14="http://schemas.microsoft.com/office/powerpoint/2010/main" val="7170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5E30D-BB22-F5F1-EA84-BFBAA53C497B}"/>
              </a:ext>
            </a:extLst>
          </p:cNvPr>
          <p:cNvSpPr>
            <a:spLocks noGrp="1"/>
          </p:cNvSpPr>
          <p:nvPr>
            <p:ph type="title"/>
          </p:nvPr>
        </p:nvSpPr>
        <p:spPr/>
        <p:txBody>
          <a:bodyPr/>
          <a:lstStyle/>
          <a:p>
            <a:r>
              <a:rPr lang="en-US" dirty="0"/>
              <a:t>Motivation</a:t>
            </a:r>
            <a:endParaRPr lang="en-IN" dirty="0"/>
          </a:p>
        </p:txBody>
      </p:sp>
      <p:sp>
        <p:nvSpPr>
          <p:cNvPr id="3" name="Content Placeholder 2">
            <a:extLst>
              <a:ext uri="{FF2B5EF4-FFF2-40B4-BE49-F238E27FC236}">
                <a16:creationId xmlns:a16="http://schemas.microsoft.com/office/drawing/2014/main" id="{92ADA5B7-4888-7ED4-4831-68178FE7AE4A}"/>
              </a:ext>
            </a:extLst>
          </p:cNvPr>
          <p:cNvSpPr>
            <a:spLocks noGrp="1"/>
          </p:cNvSpPr>
          <p:nvPr>
            <p:ph idx="1"/>
          </p:nvPr>
        </p:nvSpPr>
        <p:spPr>
          <a:xfrm>
            <a:off x="1065195" y="4880277"/>
            <a:ext cx="10058400" cy="1289517"/>
          </a:xfrm>
        </p:spPr>
        <p:txBody>
          <a:bodyPr>
            <a:noAutofit/>
          </a:bodyPr>
          <a:lstStyle/>
          <a:p>
            <a:pPr algn="just"/>
            <a:r>
              <a:rPr lang="en-US" sz="1700" dirty="0"/>
              <a:t>Several modern data quality tools—such as </a:t>
            </a:r>
            <a:r>
              <a:rPr lang="en-US" sz="1700" b="1" dirty="0"/>
              <a:t>Amazon’s </a:t>
            </a:r>
            <a:r>
              <a:rPr lang="en-US" sz="1700" b="1" dirty="0" err="1"/>
              <a:t>Deequ</a:t>
            </a:r>
            <a:r>
              <a:rPr lang="en-US" sz="1700" b="1" dirty="0"/>
              <a:t> </a:t>
            </a:r>
            <a:r>
              <a:rPr lang="en-US" sz="1700" dirty="0"/>
              <a:t>have introduced validation frameworks. However, these tools exhibit key limitations in terms of rule flexibility, language expressiveness, integration with </a:t>
            </a:r>
            <a:r>
              <a:rPr lang="en-US" sz="1700" b="1" u="sng" dirty="0"/>
              <a:t>orchestrators and cross-environment support </a:t>
            </a:r>
            <a:r>
              <a:rPr lang="en-US" sz="1700" dirty="0"/>
              <a:t>(e.g., SQL, Pandas, Spark). They also often require programming knowledge, making them inaccessible to </a:t>
            </a:r>
            <a:r>
              <a:rPr lang="en-US" sz="1700" b="1" u="sng" dirty="0"/>
              <a:t>non-technical stakeholders.</a:t>
            </a:r>
          </a:p>
        </p:txBody>
      </p:sp>
      <p:sp>
        <p:nvSpPr>
          <p:cNvPr id="5" name="Rectangle 4">
            <a:extLst>
              <a:ext uri="{FF2B5EF4-FFF2-40B4-BE49-F238E27FC236}">
                <a16:creationId xmlns:a16="http://schemas.microsoft.com/office/drawing/2014/main" id="{7E806D64-C6D4-8D06-0EEB-05AAC527028C}"/>
              </a:ext>
            </a:extLst>
          </p:cNvPr>
          <p:cNvSpPr/>
          <p:nvPr/>
        </p:nvSpPr>
        <p:spPr>
          <a:xfrm>
            <a:off x="2050181" y="2153529"/>
            <a:ext cx="3532471" cy="108018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t>85% of data science projects fail due to poor data quality.</a:t>
            </a:r>
          </a:p>
        </p:txBody>
      </p:sp>
      <p:sp>
        <p:nvSpPr>
          <p:cNvPr id="6" name="Rectangle 5">
            <a:extLst>
              <a:ext uri="{FF2B5EF4-FFF2-40B4-BE49-F238E27FC236}">
                <a16:creationId xmlns:a16="http://schemas.microsoft.com/office/drawing/2014/main" id="{54B7F01A-E90B-DF93-4E50-B1C6DD73B88B}"/>
              </a:ext>
            </a:extLst>
          </p:cNvPr>
          <p:cNvSpPr/>
          <p:nvPr/>
        </p:nvSpPr>
        <p:spPr>
          <a:xfrm>
            <a:off x="6609350" y="2118529"/>
            <a:ext cx="3532471" cy="108018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spcBef>
                <a:spcPts val="0"/>
              </a:spcBef>
              <a:spcAft>
                <a:spcPts val="0"/>
              </a:spcAft>
            </a:pPr>
            <a:r>
              <a:rPr lang="en-US" b="1" dirty="0"/>
              <a:t>Business teams lack tools to define rules easily.</a:t>
            </a:r>
          </a:p>
        </p:txBody>
      </p:sp>
      <p:sp>
        <p:nvSpPr>
          <p:cNvPr id="7" name="Rectangle 6">
            <a:extLst>
              <a:ext uri="{FF2B5EF4-FFF2-40B4-BE49-F238E27FC236}">
                <a16:creationId xmlns:a16="http://schemas.microsoft.com/office/drawing/2014/main" id="{15C9D0F6-8368-F83B-8B1A-7EF4280B832B}"/>
              </a:ext>
            </a:extLst>
          </p:cNvPr>
          <p:cNvSpPr/>
          <p:nvPr/>
        </p:nvSpPr>
        <p:spPr>
          <a:xfrm>
            <a:off x="2050179" y="3649882"/>
            <a:ext cx="3532471" cy="108018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spcBef>
                <a:spcPts val="0"/>
              </a:spcBef>
              <a:spcAft>
                <a:spcPts val="0"/>
              </a:spcAft>
            </a:pPr>
            <a:r>
              <a:rPr lang="en-US" b="1" dirty="0"/>
              <a:t>Developers struggle to enforce reusable validation rules in pipelines.</a:t>
            </a:r>
          </a:p>
        </p:txBody>
      </p:sp>
      <p:sp>
        <p:nvSpPr>
          <p:cNvPr id="8" name="Rectangle 7">
            <a:extLst>
              <a:ext uri="{FF2B5EF4-FFF2-40B4-BE49-F238E27FC236}">
                <a16:creationId xmlns:a16="http://schemas.microsoft.com/office/drawing/2014/main" id="{162A0909-2F27-E781-05AC-686B4372B51B}"/>
              </a:ext>
            </a:extLst>
          </p:cNvPr>
          <p:cNvSpPr/>
          <p:nvPr/>
        </p:nvSpPr>
        <p:spPr>
          <a:xfrm>
            <a:off x="6609350" y="3659288"/>
            <a:ext cx="3532471" cy="108018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spcBef>
                <a:spcPts val="0"/>
              </a:spcBef>
              <a:spcAft>
                <a:spcPts val="0"/>
              </a:spcAft>
            </a:pPr>
            <a:r>
              <a:rPr lang="en-US" b="1" dirty="0"/>
              <a:t>Need for a DSL that’s simple, expressive, and execution-agnostic.</a:t>
            </a:r>
          </a:p>
        </p:txBody>
      </p:sp>
    </p:spTree>
    <p:extLst>
      <p:ext uri="{BB962C8B-B14F-4D97-AF65-F5344CB8AC3E}">
        <p14:creationId xmlns:p14="http://schemas.microsoft.com/office/powerpoint/2010/main" val="1262981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E3AC0-EB57-80F9-8F10-503B283B1C13}"/>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9E059F0B-3DD9-272C-03A8-F3B71A3252DA}"/>
              </a:ext>
            </a:extLst>
          </p:cNvPr>
          <p:cNvSpPr>
            <a:spLocks noGrp="1"/>
          </p:cNvSpPr>
          <p:nvPr>
            <p:ph idx="1"/>
          </p:nvPr>
        </p:nvSpPr>
        <p:spPr>
          <a:xfrm>
            <a:off x="1097280" y="2194828"/>
            <a:ext cx="10058400" cy="3760891"/>
          </a:xfrm>
        </p:spPr>
        <p:txBody>
          <a:bodyPr>
            <a:normAutofit/>
          </a:bodyPr>
          <a:lstStyle/>
          <a:p>
            <a:pPr algn="just"/>
            <a:r>
              <a:rPr lang="en-US" sz="1700" dirty="0"/>
              <a:t>Existing approaches to data validation are either tightly coupled with specific execution engines, require verbose configurations, or lack flexibility in defining inter-field and temporal quality rules. This creates a significant barrier in scalable and repeatable quality enforcement, especially in cross-functional teams dealing with diverse data formats.</a:t>
            </a:r>
          </a:p>
          <a:p>
            <a:pPr algn="just"/>
            <a:r>
              <a:rPr lang="en-US" sz="1700" b="1" u="sng" dirty="0"/>
              <a:t>Problem</a:t>
            </a:r>
            <a:r>
              <a:rPr lang="en-US" sz="1700" b="1" dirty="0"/>
              <a:t>: </a:t>
            </a:r>
            <a:r>
              <a:rPr lang="en-US" sz="1700" dirty="0"/>
              <a:t>There is a lack of a lightweight, extensible, and declarative framework that allows both technical and non-technical users to define and apply </a:t>
            </a:r>
            <a:r>
              <a:rPr lang="en-US" sz="1700" b="1" dirty="0"/>
              <a:t>complex, multi-layered data quality rules</a:t>
            </a:r>
            <a:r>
              <a:rPr lang="en-US" sz="1700" dirty="0"/>
              <a:t> seamlessly across batch and streaming pipelines.</a:t>
            </a:r>
          </a:p>
          <a:p>
            <a:pPr algn="just"/>
            <a:r>
              <a:rPr lang="en-US" sz="1700" dirty="0"/>
              <a:t>Existing tools are either too rigid, too technical, or engine-locked and lack of readable, declarative systems for data quality validation creates difficulties and delays in understanding underlying data patterns and issues. The solution it needs is to support cross-field rules, conditional logic, and multi-engine support.</a:t>
            </a:r>
          </a:p>
        </p:txBody>
      </p:sp>
    </p:spTree>
    <p:extLst>
      <p:ext uri="{BB962C8B-B14F-4D97-AF65-F5344CB8AC3E}">
        <p14:creationId xmlns:p14="http://schemas.microsoft.com/office/powerpoint/2010/main" val="3717686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C0AD-DE1F-19D7-318C-FC53371315CC}"/>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95950D73-3E93-37E4-D161-3DA616EB38B0}"/>
              </a:ext>
            </a:extLst>
          </p:cNvPr>
          <p:cNvSpPr>
            <a:spLocks noGrp="1"/>
          </p:cNvSpPr>
          <p:nvPr>
            <p:ph idx="1"/>
          </p:nvPr>
        </p:nvSpPr>
        <p:spPr/>
        <p:txBody>
          <a:bodyPr>
            <a:noAutofit/>
          </a:bodyPr>
          <a:lstStyle/>
          <a:p>
            <a:pPr algn="just">
              <a:buClr>
                <a:schemeClr val="tx1"/>
              </a:buClr>
              <a:buSzPct val="120000"/>
              <a:buFont typeface="Arial" panose="020B0604020202020204" pitchFamily="34" charset="0"/>
              <a:buChar char="•"/>
            </a:pPr>
            <a:r>
              <a:rPr lang="en-US" sz="1700" dirty="0"/>
              <a:t>To design a DSL schema (using YAML/JSON) to define data quality rules in a declarative manner.</a:t>
            </a:r>
          </a:p>
          <a:p>
            <a:pPr algn="just">
              <a:buClr>
                <a:schemeClr val="tx1"/>
              </a:buClr>
              <a:buSzPct val="120000"/>
              <a:buFont typeface="Arial" panose="020B0604020202020204" pitchFamily="34" charset="0"/>
              <a:buChar char="•"/>
            </a:pPr>
            <a:r>
              <a:rPr lang="en-US" sz="1700" dirty="0"/>
              <a:t>To implement a modular rule execution engine that parses these rules and applies them to datasets in various formats (CSV, Parquet, SQL tables, etc.).</a:t>
            </a:r>
          </a:p>
          <a:p>
            <a:pPr algn="just">
              <a:buClr>
                <a:schemeClr val="tx1"/>
              </a:buClr>
              <a:buSzPct val="120000"/>
              <a:buFont typeface="Arial" panose="020B0604020202020204" pitchFamily="34" charset="0"/>
              <a:buChar char="•"/>
            </a:pPr>
            <a:r>
              <a:rPr lang="en-US" sz="1700" dirty="0"/>
              <a:t>To support advanced rule logic, including cross-column dependencies, conditional logic, regex checks, and temporal constraints.</a:t>
            </a:r>
          </a:p>
          <a:p>
            <a:pPr algn="just">
              <a:buClr>
                <a:schemeClr val="tx1"/>
              </a:buClr>
              <a:buSzPct val="120000"/>
              <a:buFont typeface="Arial" panose="020B0604020202020204" pitchFamily="34" charset="0"/>
              <a:buChar char="•"/>
            </a:pPr>
            <a:r>
              <a:rPr lang="en-US" sz="1700" dirty="0"/>
              <a:t>To develop an optional profiling module that recommends initial rules based on schema and statistical profiling.</a:t>
            </a:r>
          </a:p>
          <a:p>
            <a:pPr algn="just">
              <a:buClr>
                <a:schemeClr val="tx1"/>
              </a:buClr>
              <a:buSzPct val="120000"/>
              <a:buFont typeface="Arial" panose="020B0604020202020204" pitchFamily="34" charset="0"/>
              <a:buChar char="•"/>
            </a:pPr>
            <a:r>
              <a:rPr lang="en-US" sz="1700" dirty="0"/>
              <a:t>To create a reporting layer that summarizes rule violations, quality scores, and trends.</a:t>
            </a:r>
          </a:p>
          <a:p>
            <a:pPr algn="just">
              <a:buClr>
                <a:schemeClr val="tx1"/>
              </a:buClr>
              <a:buSzPct val="120000"/>
              <a:buFont typeface="Arial" panose="020B0604020202020204" pitchFamily="34" charset="0"/>
              <a:buChar char="•"/>
            </a:pPr>
            <a:r>
              <a:rPr lang="en-US" sz="1700" dirty="0"/>
              <a:t>To ensure extensibility via integration with tools like Apache Airflow, </a:t>
            </a:r>
            <a:r>
              <a:rPr lang="en-US" sz="1700" dirty="0" err="1"/>
              <a:t>dbt</a:t>
            </a:r>
            <a:r>
              <a:rPr lang="en-US" sz="1700" dirty="0"/>
              <a:t>, or command-line pipelines.</a:t>
            </a:r>
            <a:endParaRPr lang="en-IN" sz="1700" dirty="0"/>
          </a:p>
        </p:txBody>
      </p:sp>
    </p:spTree>
    <p:extLst>
      <p:ext uri="{BB962C8B-B14F-4D97-AF65-F5344CB8AC3E}">
        <p14:creationId xmlns:p14="http://schemas.microsoft.com/office/powerpoint/2010/main" val="2820233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ADEB-4AAB-8950-9A12-DB8D3DA139F4}"/>
              </a:ext>
            </a:extLst>
          </p:cNvPr>
          <p:cNvSpPr>
            <a:spLocks noGrp="1"/>
          </p:cNvSpPr>
          <p:nvPr>
            <p:ph type="title"/>
          </p:nvPr>
        </p:nvSpPr>
        <p:spPr/>
        <p:txBody>
          <a:bodyPr/>
          <a:lstStyle/>
          <a:p>
            <a:r>
              <a:rPr lang="en-IN" dirty="0"/>
              <a:t>Literature Survey</a:t>
            </a:r>
          </a:p>
        </p:txBody>
      </p:sp>
      <p:graphicFrame>
        <p:nvGraphicFramePr>
          <p:cNvPr id="11" name="Content Placeholder 10">
            <a:extLst>
              <a:ext uri="{FF2B5EF4-FFF2-40B4-BE49-F238E27FC236}">
                <a16:creationId xmlns:a16="http://schemas.microsoft.com/office/drawing/2014/main" id="{465D7806-73B2-6AF9-F01B-8944180F6CB4}"/>
              </a:ext>
            </a:extLst>
          </p:cNvPr>
          <p:cNvGraphicFramePr>
            <a:graphicFrameLocks noGrp="1"/>
          </p:cNvGraphicFramePr>
          <p:nvPr>
            <p:ph idx="1"/>
            <p:extLst>
              <p:ext uri="{D42A27DB-BD31-4B8C-83A1-F6EECF244321}">
                <p14:modId xmlns:p14="http://schemas.microsoft.com/office/powerpoint/2010/main" val="340899376"/>
              </p:ext>
            </p:extLst>
          </p:nvPr>
        </p:nvGraphicFramePr>
        <p:xfrm>
          <a:off x="1212783" y="1997243"/>
          <a:ext cx="9981398" cy="4304177"/>
        </p:xfrm>
        <a:graphic>
          <a:graphicData uri="http://schemas.openxmlformats.org/drawingml/2006/table">
            <a:tbl>
              <a:tblPr firstRow="1" bandRow="1">
                <a:tableStyleId>{775DCB02-9BB8-47FD-8907-85C794F793BA}</a:tableStyleId>
              </a:tblPr>
              <a:tblGrid>
                <a:gridCol w="2069434">
                  <a:extLst>
                    <a:ext uri="{9D8B030D-6E8A-4147-A177-3AD203B41FA5}">
                      <a16:colId xmlns:a16="http://schemas.microsoft.com/office/drawing/2014/main" val="1666441777"/>
                    </a:ext>
                  </a:extLst>
                </a:gridCol>
                <a:gridCol w="1049151">
                  <a:extLst>
                    <a:ext uri="{9D8B030D-6E8A-4147-A177-3AD203B41FA5}">
                      <a16:colId xmlns:a16="http://schemas.microsoft.com/office/drawing/2014/main" val="1775553144"/>
                    </a:ext>
                  </a:extLst>
                </a:gridCol>
                <a:gridCol w="1511167">
                  <a:extLst>
                    <a:ext uri="{9D8B030D-6E8A-4147-A177-3AD203B41FA5}">
                      <a16:colId xmlns:a16="http://schemas.microsoft.com/office/drawing/2014/main" val="1371927400"/>
                    </a:ext>
                  </a:extLst>
                </a:gridCol>
                <a:gridCol w="5351646">
                  <a:extLst>
                    <a:ext uri="{9D8B030D-6E8A-4147-A177-3AD203B41FA5}">
                      <a16:colId xmlns:a16="http://schemas.microsoft.com/office/drawing/2014/main" val="2077044241"/>
                    </a:ext>
                  </a:extLst>
                </a:gridCol>
              </a:tblGrid>
              <a:tr h="278848">
                <a:tc>
                  <a:txBody>
                    <a:bodyPr/>
                    <a:lstStyle/>
                    <a:p>
                      <a:pPr algn="ctr" fontAlgn="ctr">
                        <a:buNone/>
                      </a:pPr>
                      <a:r>
                        <a:rPr lang="en-IN" sz="1500" b="1" u="none" strike="noStrike" dirty="0">
                          <a:effectLst/>
                        </a:rPr>
                        <a:t>Title</a:t>
                      </a:r>
                      <a:endParaRPr lang="en-IN" sz="1500" b="1"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b="1" u="none" strike="noStrike" dirty="0">
                          <a:effectLst/>
                        </a:rPr>
                        <a:t>Source</a:t>
                      </a:r>
                      <a:endParaRPr lang="en-IN" sz="1500" b="1"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b="1" u="none" strike="noStrike" dirty="0">
                          <a:effectLst/>
                        </a:rPr>
                        <a:t>Authors / Year</a:t>
                      </a:r>
                      <a:endParaRPr lang="en-IN" sz="1500" b="1"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b="1" u="none" strike="noStrike" dirty="0">
                          <a:effectLst/>
                        </a:rPr>
                        <a:t>Contribution</a:t>
                      </a:r>
                      <a:endParaRPr lang="en-IN" sz="1500" b="1" i="0" u="none" strike="noStrike" dirty="0">
                        <a:solidFill>
                          <a:srgbClr val="000000"/>
                        </a:solidFill>
                        <a:effectLst/>
                        <a:latin typeface="Calibri" panose="020F0502020204030204" pitchFamily="34" charset="0"/>
                      </a:endParaRPr>
                    </a:p>
                  </a:txBody>
                  <a:tcPr marL="4632" marR="4632" marT="4632" marB="0" anchor="ctr"/>
                </a:tc>
                <a:extLst>
                  <a:ext uri="{0D108BD9-81ED-4DB2-BD59-A6C34878D82A}">
                    <a16:rowId xmlns:a16="http://schemas.microsoft.com/office/drawing/2014/main" val="2451717528"/>
                  </a:ext>
                </a:extLst>
              </a:tr>
              <a:tr h="722646">
                <a:tc>
                  <a:txBody>
                    <a:bodyPr/>
                    <a:lstStyle/>
                    <a:p>
                      <a:pPr algn="l" fontAlgn="ctr">
                        <a:buNone/>
                      </a:pPr>
                      <a:r>
                        <a:rPr lang="en-US" sz="1500" b="1" u="none" strike="noStrike" dirty="0" err="1">
                          <a:effectLst/>
                        </a:rPr>
                        <a:t>Deequ</a:t>
                      </a:r>
                      <a:r>
                        <a:rPr lang="en-US" sz="1500" b="1" u="none" strike="noStrike" dirty="0">
                          <a:effectLst/>
                        </a:rPr>
                        <a:t>: Declarative Data Quality Checks at Scale</a:t>
                      </a:r>
                      <a:endParaRPr lang="en-US" sz="1500" b="1"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dirty="0">
                          <a:effectLst/>
                        </a:rPr>
                        <a:t>ACM SIGMOD</a:t>
                      </a:r>
                      <a:endParaRPr lang="en-IN" sz="1500" b="0"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dirty="0">
                          <a:effectLst/>
                        </a:rPr>
                        <a:t>Schelter et al., 2019 (Amazon)</a:t>
                      </a:r>
                      <a:endParaRPr lang="en-IN" sz="1500" b="0" i="0" u="none" strike="noStrike" dirty="0">
                        <a:solidFill>
                          <a:srgbClr val="000000"/>
                        </a:solidFill>
                        <a:effectLst/>
                        <a:latin typeface="Calibri" panose="020F0502020204030204" pitchFamily="34" charset="0"/>
                      </a:endParaRPr>
                    </a:p>
                  </a:txBody>
                  <a:tcPr marL="4632" marR="4632" marT="4632" marB="0" anchor="ctr"/>
                </a:tc>
                <a:tc>
                  <a:txBody>
                    <a:bodyPr/>
                    <a:lstStyle/>
                    <a:p>
                      <a:pPr algn="l" fontAlgn="ctr">
                        <a:buNone/>
                      </a:pPr>
                      <a:r>
                        <a:rPr lang="en-US" sz="1500" u="none" strike="noStrike">
                          <a:effectLst/>
                        </a:rPr>
                        <a:t>Introduced Deequ — a Scala library for defining and running DQ checks declaratively on Spark. Pioneered the idea of metrics + constraints DSL.</a:t>
                      </a:r>
                      <a:endParaRPr lang="en-US" sz="1500" b="0" i="0" u="none" strike="noStrike">
                        <a:solidFill>
                          <a:srgbClr val="000000"/>
                        </a:solidFill>
                        <a:effectLst/>
                        <a:latin typeface="Calibri" panose="020F0502020204030204" pitchFamily="34" charset="0"/>
                      </a:endParaRPr>
                    </a:p>
                  </a:txBody>
                  <a:tcPr marL="4632" marR="4632" marT="4632" marB="0" anchor="ctr"/>
                </a:tc>
                <a:extLst>
                  <a:ext uri="{0D108BD9-81ED-4DB2-BD59-A6C34878D82A}">
                    <a16:rowId xmlns:a16="http://schemas.microsoft.com/office/drawing/2014/main" val="3130004318"/>
                  </a:ext>
                </a:extLst>
              </a:tr>
              <a:tr h="769555">
                <a:tc>
                  <a:txBody>
                    <a:bodyPr/>
                    <a:lstStyle/>
                    <a:p>
                      <a:pPr algn="l" fontAlgn="ctr">
                        <a:buNone/>
                      </a:pPr>
                      <a:r>
                        <a:rPr lang="en-US" sz="1500" b="1" u="none" strike="noStrike" dirty="0">
                          <a:effectLst/>
                        </a:rPr>
                        <a:t>A Data Quality Management Framework for Big Data Pipelines</a:t>
                      </a:r>
                      <a:endParaRPr lang="en-US" sz="1500" b="1"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dirty="0">
                          <a:effectLst/>
                        </a:rPr>
                        <a:t>IEEE Access</a:t>
                      </a:r>
                      <a:endParaRPr lang="en-IN" sz="1500" b="0"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a:effectLst/>
                        </a:rPr>
                        <a:t>Barakat et al., 2021</a:t>
                      </a:r>
                      <a:endParaRPr lang="en-IN" sz="1500" b="0" i="0" u="none" strike="noStrike">
                        <a:solidFill>
                          <a:srgbClr val="000000"/>
                        </a:solidFill>
                        <a:effectLst/>
                        <a:latin typeface="Calibri" panose="020F0502020204030204" pitchFamily="34" charset="0"/>
                      </a:endParaRPr>
                    </a:p>
                  </a:txBody>
                  <a:tcPr marL="4632" marR="4632" marT="4632" marB="0" anchor="ctr"/>
                </a:tc>
                <a:tc>
                  <a:txBody>
                    <a:bodyPr/>
                    <a:lstStyle/>
                    <a:p>
                      <a:pPr algn="l" fontAlgn="ctr">
                        <a:buNone/>
                      </a:pPr>
                      <a:r>
                        <a:rPr lang="en-US" sz="1500" u="none" strike="noStrike">
                          <a:effectLst/>
                        </a:rPr>
                        <a:t>Proposed a layered DQ architecture with profiling, constraints, anomaly detection — emphasizes modular validation layers.</a:t>
                      </a:r>
                      <a:endParaRPr lang="en-US" sz="1500" b="0" i="0" u="none" strike="noStrike">
                        <a:solidFill>
                          <a:srgbClr val="000000"/>
                        </a:solidFill>
                        <a:effectLst/>
                        <a:latin typeface="Calibri" panose="020F0502020204030204" pitchFamily="34" charset="0"/>
                      </a:endParaRPr>
                    </a:p>
                  </a:txBody>
                  <a:tcPr marL="4632" marR="4632" marT="4632" marB="0" anchor="ctr"/>
                </a:tc>
                <a:extLst>
                  <a:ext uri="{0D108BD9-81ED-4DB2-BD59-A6C34878D82A}">
                    <a16:rowId xmlns:a16="http://schemas.microsoft.com/office/drawing/2014/main" val="3438979632"/>
                  </a:ext>
                </a:extLst>
              </a:tr>
              <a:tr h="582869">
                <a:tc>
                  <a:txBody>
                    <a:bodyPr/>
                    <a:lstStyle/>
                    <a:p>
                      <a:pPr algn="l" fontAlgn="ctr">
                        <a:buNone/>
                      </a:pPr>
                      <a:r>
                        <a:rPr lang="en-US" sz="1500" b="1" u="none" strike="noStrike" dirty="0">
                          <a:effectLst/>
                        </a:rPr>
                        <a:t>Detecting Data Quality Rules Using Association Rule Mining</a:t>
                      </a:r>
                      <a:endParaRPr lang="en-US" sz="1500" b="1"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dirty="0">
                          <a:effectLst/>
                        </a:rPr>
                        <a:t>Springer</a:t>
                      </a:r>
                      <a:endParaRPr lang="en-IN" sz="1500" b="0"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dirty="0">
                          <a:effectLst/>
                        </a:rPr>
                        <a:t>Jagadish et al., 2020</a:t>
                      </a:r>
                      <a:endParaRPr lang="en-IN" sz="1500" b="0" i="0" u="none" strike="noStrike" dirty="0">
                        <a:solidFill>
                          <a:srgbClr val="000000"/>
                        </a:solidFill>
                        <a:effectLst/>
                        <a:latin typeface="Calibri" panose="020F0502020204030204" pitchFamily="34" charset="0"/>
                      </a:endParaRPr>
                    </a:p>
                  </a:txBody>
                  <a:tcPr marL="4632" marR="4632" marT="4632" marB="0" anchor="ctr"/>
                </a:tc>
                <a:tc>
                  <a:txBody>
                    <a:bodyPr/>
                    <a:lstStyle/>
                    <a:p>
                      <a:pPr algn="l" fontAlgn="ctr">
                        <a:buNone/>
                      </a:pPr>
                      <a:r>
                        <a:rPr lang="en-US" sz="1500" u="none" strike="noStrike" dirty="0">
                          <a:effectLst/>
                        </a:rPr>
                        <a:t>Presents methods to auto-generate rules using pattern mining — aligns with our optional auto-suggestion module.</a:t>
                      </a:r>
                      <a:endParaRPr lang="en-US" sz="1500" b="0" i="0" u="none" strike="noStrike" dirty="0">
                        <a:solidFill>
                          <a:srgbClr val="000000"/>
                        </a:solidFill>
                        <a:effectLst/>
                        <a:latin typeface="Calibri" panose="020F0502020204030204" pitchFamily="34" charset="0"/>
                      </a:endParaRPr>
                    </a:p>
                  </a:txBody>
                  <a:tcPr marL="4632" marR="4632" marT="4632" marB="0" anchor="ctr"/>
                </a:tc>
                <a:extLst>
                  <a:ext uri="{0D108BD9-81ED-4DB2-BD59-A6C34878D82A}">
                    <a16:rowId xmlns:a16="http://schemas.microsoft.com/office/drawing/2014/main" val="4032214623"/>
                  </a:ext>
                </a:extLst>
              </a:tr>
              <a:tr h="0">
                <a:tc>
                  <a:txBody>
                    <a:bodyPr/>
                    <a:lstStyle/>
                    <a:p>
                      <a:pPr algn="l" fontAlgn="ctr">
                        <a:buNone/>
                      </a:pPr>
                      <a:r>
                        <a:rPr lang="en-US" sz="1500" b="1" u="none" strike="noStrike" dirty="0">
                          <a:effectLst/>
                        </a:rPr>
                        <a:t>Data Contracts: Enabling Data Quality at Scale</a:t>
                      </a:r>
                      <a:endParaRPr lang="en-US" sz="1500" b="1"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dirty="0" err="1">
                          <a:effectLst/>
                        </a:rPr>
                        <a:t>ArXiv</a:t>
                      </a:r>
                      <a:r>
                        <a:rPr lang="en-IN" sz="1500" u="none" strike="noStrike" dirty="0">
                          <a:effectLst/>
                        </a:rPr>
                        <a:t> (Meta)</a:t>
                      </a:r>
                      <a:endParaRPr lang="en-IN" sz="1500" b="0"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dirty="0">
                          <a:effectLst/>
                        </a:rPr>
                        <a:t>Chen et al., 2022</a:t>
                      </a:r>
                      <a:endParaRPr lang="en-IN" sz="1500" b="0" i="0" u="none" strike="noStrike" dirty="0">
                        <a:solidFill>
                          <a:srgbClr val="000000"/>
                        </a:solidFill>
                        <a:effectLst/>
                        <a:latin typeface="Calibri" panose="020F0502020204030204" pitchFamily="34" charset="0"/>
                      </a:endParaRPr>
                    </a:p>
                  </a:txBody>
                  <a:tcPr marL="4632" marR="4632" marT="4632" marB="0" anchor="ctr"/>
                </a:tc>
                <a:tc>
                  <a:txBody>
                    <a:bodyPr/>
                    <a:lstStyle/>
                    <a:p>
                      <a:pPr algn="l" fontAlgn="ctr">
                        <a:buNone/>
                      </a:pPr>
                      <a:r>
                        <a:rPr lang="en-US" sz="1500" u="none" strike="noStrike">
                          <a:effectLst/>
                        </a:rPr>
                        <a:t>Discusses “data contracts” as a declarative agreement between producers and consumers to enforce quality. A key motivator for rule DSLs.</a:t>
                      </a:r>
                      <a:endParaRPr lang="en-US" sz="1500" b="0" i="0" u="none" strike="noStrike">
                        <a:solidFill>
                          <a:srgbClr val="000000"/>
                        </a:solidFill>
                        <a:effectLst/>
                        <a:latin typeface="Calibri" panose="020F0502020204030204" pitchFamily="34" charset="0"/>
                      </a:endParaRPr>
                    </a:p>
                  </a:txBody>
                  <a:tcPr marL="4632" marR="4632" marT="4632" marB="0" anchor="ctr"/>
                </a:tc>
                <a:extLst>
                  <a:ext uri="{0D108BD9-81ED-4DB2-BD59-A6C34878D82A}">
                    <a16:rowId xmlns:a16="http://schemas.microsoft.com/office/drawing/2014/main" val="3717895446"/>
                  </a:ext>
                </a:extLst>
              </a:tr>
              <a:tr h="398852">
                <a:tc>
                  <a:txBody>
                    <a:bodyPr/>
                    <a:lstStyle/>
                    <a:p>
                      <a:pPr algn="l" fontAlgn="ctr">
                        <a:buNone/>
                      </a:pPr>
                      <a:r>
                        <a:rPr lang="en-US" sz="1500" b="1" u="none" strike="noStrike" dirty="0">
                          <a:effectLst/>
                        </a:rPr>
                        <a:t>A Survey of Data Quality in Data Lakes</a:t>
                      </a:r>
                      <a:endParaRPr lang="en-US" sz="1500" b="1"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a:effectLst/>
                        </a:rPr>
                        <a:t>Elsevier</a:t>
                      </a:r>
                      <a:endParaRPr lang="en-IN" sz="1500" b="0" i="0" u="none" strike="noStrike">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dirty="0">
                          <a:effectLst/>
                        </a:rPr>
                        <a:t>Sawadogo et al., 2020</a:t>
                      </a:r>
                      <a:endParaRPr lang="en-IN" sz="1500" b="0" i="0" u="none" strike="noStrike" dirty="0">
                        <a:solidFill>
                          <a:srgbClr val="000000"/>
                        </a:solidFill>
                        <a:effectLst/>
                        <a:latin typeface="Calibri" panose="020F0502020204030204" pitchFamily="34" charset="0"/>
                      </a:endParaRPr>
                    </a:p>
                  </a:txBody>
                  <a:tcPr marL="4632" marR="4632" marT="4632" marB="0" anchor="ctr"/>
                </a:tc>
                <a:tc>
                  <a:txBody>
                    <a:bodyPr/>
                    <a:lstStyle/>
                    <a:p>
                      <a:pPr algn="l" fontAlgn="ctr">
                        <a:buNone/>
                      </a:pPr>
                      <a:r>
                        <a:rPr lang="en-US" sz="1500" u="none" strike="noStrike">
                          <a:effectLst/>
                        </a:rPr>
                        <a:t>Covers dimensions of data quality in unstructured environments and highlights need for automated schema/profile checks.</a:t>
                      </a:r>
                      <a:endParaRPr lang="en-US" sz="1500" b="0" i="0" u="none" strike="noStrike">
                        <a:solidFill>
                          <a:srgbClr val="000000"/>
                        </a:solidFill>
                        <a:effectLst/>
                        <a:latin typeface="Calibri" panose="020F0502020204030204" pitchFamily="34" charset="0"/>
                      </a:endParaRPr>
                    </a:p>
                  </a:txBody>
                  <a:tcPr marL="4632" marR="4632" marT="4632" marB="0" anchor="ctr"/>
                </a:tc>
                <a:extLst>
                  <a:ext uri="{0D108BD9-81ED-4DB2-BD59-A6C34878D82A}">
                    <a16:rowId xmlns:a16="http://schemas.microsoft.com/office/drawing/2014/main" val="3087807809"/>
                  </a:ext>
                </a:extLst>
              </a:tr>
              <a:tr h="543647">
                <a:tc>
                  <a:txBody>
                    <a:bodyPr/>
                    <a:lstStyle/>
                    <a:p>
                      <a:pPr algn="l" fontAlgn="ctr">
                        <a:buNone/>
                      </a:pPr>
                      <a:r>
                        <a:rPr lang="en-US" sz="1500" b="1" u="none" strike="noStrike" dirty="0">
                          <a:effectLst/>
                        </a:rPr>
                        <a:t>Declarative Data Cleaning: Language and Architecture</a:t>
                      </a:r>
                      <a:endParaRPr lang="en-US" sz="1500" b="1" i="0" u="none" strike="noStrike" dirty="0">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a:effectLst/>
                        </a:rPr>
                        <a:t>VLDB / ACM</a:t>
                      </a:r>
                      <a:endParaRPr lang="en-IN" sz="1500" b="0" i="0" u="none" strike="noStrike">
                        <a:solidFill>
                          <a:srgbClr val="000000"/>
                        </a:solidFill>
                        <a:effectLst/>
                        <a:latin typeface="Calibri" panose="020F0502020204030204" pitchFamily="34" charset="0"/>
                      </a:endParaRPr>
                    </a:p>
                  </a:txBody>
                  <a:tcPr marL="4632" marR="4632" marT="4632" marB="0" anchor="ctr"/>
                </a:tc>
                <a:tc>
                  <a:txBody>
                    <a:bodyPr/>
                    <a:lstStyle/>
                    <a:p>
                      <a:pPr algn="ctr" fontAlgn="ctr">
                        <a:buNone/>
                      </a:pPr>
                      <a:r>
                        <a:rPr lang="en-IN" sz="1500" u="none" strike="noStrike" dirty="0">
                          <a:effectLst/>
                        </a:rPr>
                        <a:t>Chu et al., 2016</a:t>
                      </a:r>
                      <a:endParaRPr lang="en-IN" sz="1500" b="0" i="0" u="none" strike="noStrike" dirty="0">
                        <a:solidFill>
                          <a:srgbClr val="000000"/>
                        </a:solidFill>
                        <a:effectLst/>
                        <a:latin typeface="Calibri" panose="020F0502020204030204" pitchFamily="34" charset="0"/>
                      </a:endParaRPr>
                    </a:p>
                  </a:txBody>
                  <a:tcPr marL="4632" marR="4632" marT="4632" marB="0" anchor="ctr"/>
                </a:tc>
                <a:tc>
                  <a:txBody>
                    <a:bodyPr/>
                    <a:lstStyle/>
                    <a:p>
                      <a:pPr algn="l" fontAlgn="ctr">
                        <a:buNone/>
                      </a:pPr>
                      <a:r>
                        <a:rPr lang="en-US" sz="1500" u="none" strike="noStrike" dirty="0">
                          <a:effectLst/>
                        </a:rPr>
                        <a:t>Introduced REX and NADEEF for cleaning with rules in a declarative style. Foundational for your DSL ideas.</a:t>
                      </a:r>
                      <a:endParaRPr lang="en-US" sz="1500" b="0" i="0" u="none" strike="noStrike" dirty="0">
                        <a:solidFill>
                          <a:srgbClr val="000000"/>
                        </a:solidFill>
                        <a:effectLst/>
                        <a:latin typeface="Calibri" panose="020F0502020204030204" pitchFamily="34" charset="0"/>
                      </a:endParaRPr>
                    </a:p>
                  </a:txBody>
                  <a:tcPr marL="4632" marR="4632" marT="4632" marB="0" anchor="ctr"/>
                </a:tc>
                <a:extLst>
                  <a:ext uri="{0D108BD9-81ED-4DB2-BD59-A6C34878D82A}">
                    <a16:rowId xmlns:a16="http://schemas.microsoft.com/office/drawing/2014/main" val="1546673143"/>
                  </a:ext>
                </a:extLst>
              </a:tr>
            </a:tbl>
          </a:graphicData>
        </a:graphic>
      </p:graphicFrame>
    </p:spTree>
    <p:extLst>
      <p:ext uri="{BB962C8B-B14F-4D97-AF65-F5344CB8AC3E}">
        <p14:creationId xmlns:p14="http://schemas.microsoft.com/office/powerpoint/2010/main" val="2626537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0E225-A702-D14E-7C63-313638C818D5}"/>
              </a:ext>
            </a:extLst>
          </p:cNvPr>
          <p:cNvSpPr>
            <a:spLocks noGrp="1"/>
          </p:cNvSpPr>
          <p:nvPr>
            <p:ph type="title"/>
          </p:nvPr>
        </p:nvSpPr>
        <p:spPr/>
        <p:txBody>
          <a:bodyPr/>
          <a:lstStyle/>
          <a:p>
            <a:r>
              <a:rPr lang="en-IN" dirty="0"/>
              <a:t>Gaps in Current Tools</a:t>
            </a:r>
          </a:p>
        </p:txBody>
      </p:sp>
      <p:graphicFrame>
        <p:nvGraphicFramePr>
          <p:cNvPr id="7" name="Content Placeholder 6">
            <a:extLst>
              <a:ext uri="{FF2B5EF4-FFF2-40B4-BE49-F238E27FC236}">
                <a16:creationId xmlns:a16="http://schemas.microsoft.com/office/drawing/2014/main" id="{307C9131-754F-9367-507C-5A5FACED26A4}"/>
              </a:ext>
            </a:extLst>
          </p:cNvPr>
          <p:cNvGraphicFramePr>
            <a:graphicFrameLocks noGrp="1"/>
          </p:cNvGraphicFramePr>
          <p:nvPr>
            <p:ph idx="1"/>
            <p:extLst>
              <p:ext uri="{D42A27DB-BD31-4B8C-83A1-F6EECF244321}">
                <p14:modId xmlns:p14="http://schemas.microsoft.com/office/powerpoint/2010/main" val="2231382352"/>
              </p:ext>
            </p:extLst>
          </p:nvPr>
        </p:nvGraphicFramePr>
        <p:xfrm>
          <a:off x="1241659" y="2021307"/>
          <a:ext cx="9914021" cy="4052232"/>
        </p:xfrm>
        <a:graphic>
          <a:graphicData uri="http://schemas.openxmlformats.org/drawingml/2006/table">
            <a:tbl>
              <a:tblPr firstRow="1">
                <a:tableStyleId>{775DCB02-9BB8-47FD-8907-85C794F793BA}</a:tableStyleId>
              </a:tblPr>
              <a:tblGrid>
                <a:gridCol w="1270535">
                  <a:extLst>
                    <a:ext uri="{9D8B030D-6E8A-4147-A177-3AD203B41FA5}">
                      <a16:colId xmlns:a16="http://schemas.microsoft.com/office/drawing/2014/main" val="2339559511"/>
                    </a:ext>
                  </a:extLst>
                </a:gridCol>
                <a:gridCol w="3647974">
                  <a:extLst>
                    <a:ext uri="{9D8B030D-6E8A-4147-A177-3AD203B41FA5}">
                      <a16:colId xmlns:a16="http://schemas.microsoft.com/office/drawing/2014/main" val="139773829"/>
                    </a:ext>
                  </a:extLst>
                </a:gridCol>
                <a:gridCol w="4995512">
                  <a:extLst>
                    <a:ext uri="{9D8B030D-6E8A-4147-A177-3AD203B41FA5}">
                      <a16:colId xmlns:a16="http://schemas.microsoft.com/office/drawing/2014/main" val="2207744932"/>
                    </a:ext>
                  </a:extLst>
                </a:gridCol>
              </a:tblGrid>
              <a:tr h="411902">
                <a:tc>
                  <a:txBody>
                    <a:bodyPr/>
                    <a:lstStyle/>
                    <a:p>
                      <a:pPr algn="ctr" fontAlgn="ctr">
                        <a:buNone/>
                      </a:pPr>
                      <a:r>
                        <a:rPr lang="en-IN" sz="1700" b="1" u="none" strike="noStrike">
                          <a:effectLst/>
                        </a:rPr>
                        <a:t>Tool</a:t>
                      </a:r>
                      <a:endParaRPr lang="en-IN" sz="17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700" b="1" u="none" strike="noStrike" dirty="0">
                          <a:effectLst/>
                        </a:rPr>
                        <a:t>Limitation</a:t>
                      </a:r>
                      <a:endParaRPr lang="en-IN" sz="17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700" b="1" u="none" strike="noStrike" dirty="0">
                          <a:effectLst/>
                        </a:rPr>
                        <a:t>Explanation</a:t>
                      </a:r>
                      <a:endParaRPr lang="en-IN" sz="17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141604135"/>
                  </a:ext>
                </a:extLst>
              </a:tr>
              <a:tr h="598929">
                <a:tc rowSpan="3">
                  <a:txBody>
                    <a:bodyPr/>
                    <a:lstStyle/>
                    <a:p>
                      <a:pPr algn="ctr" fontAlgn="ctr">
                        <a:buNone/>
                      </a:pPr>
                      <a:r>
                        <a:rPr lang="en-IN" sz="1700" u="none" strike="noStrike" dirty="0" err="1">
                          <a:effectLst/>
                        </a:rPr>
                        <a:t>Deequ</a:t>
                      </a:r>
                      <a:r>
                        <a:rPr lang="en-IN" sz="1700" u="none" strike="noStrike" dirty="0">
                          <a:effectLst/>
                        </a:rPr>
                        <a:t> (by Amazon)</a:t>
                      </a:r>
                      <a:endParaRPr lang="en-IN" sz="17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dirty="0">
                          <a:effectLst/>
                        </a:rPr>
                        <a:t>Only works with Spark + Scala</a:t>
                      </a:r>
                      <a:endParaRPr lang="en-US" sz="17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dirty="0">
                          <a:effectLst/>
                        </a:rPr>
                        <a:t>No support for Python or SQL engines; limits adoption in teams using Pandas or RDBMS.</a:t>
                      </a:r>
                      <a:endParaRPr lang="en-US" sz="17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859708081"/>
                  </a:ext>
                </a:extLst>
              </a:tr>
              <a:tr h="598929">
                <a:tc vMerge="1">
                  <a:txBody>
                    <a:bodyPr/>
                    <a:lstStyle/>
                    <a:p>
                      <a:endParaRPr lang="en-IN"/>
                    </a:p>
                  </a:txBody>
                  <a:tcPr/>
                </a:tc>
                <a:tc>
                  <a:txBody>
                    <a:bodyPr/>
                    <a:lstStyle/>
                    <a:p>
                      <a:pPr algn="l" fontAlgn="ctr">
                        <a:buNone/>
                      </a:pPr>
                      <a:r>
                        <a:rPr lang="en-IN" sz="1700" u="none" strike="noStrike" dirty="0">
                          <a:effectLst/>
                        </a:rPr>
                        <a:t>Limited rule logic</a:t>
                      </a:r>
                      <a:endParaRPr lang="en-IN" sz="17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a:effectLst/>
                        </a:rPr>
                        <a:t>Doesn’t support complex inter-column rules like “If age &lt; 18 then income must be null.”</a:t>
                      </a:r>
                      <a:endParaRPr lang="en-US" sz="17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846495388"/>
                  </a:ext>
                </a:extLst>
              </a:tr>
              <a:tr h="598929">
                <a:tc vMerge="1">
                  <a:txBody>
                    <a:bodyPr/>
                    <a:lstStyle/>
                    <a:p>
                      <a:endParaRPr lang="en-IN"/>
                    </a:p>
                  </a:txBody>
                  <a:tcPr/>
                </a:tc>
                <a:tc>
                  <a:txBody>
                    <a:bodyPr/>
                    <a:lstStyle/>
                    <a:p>
                      <a:pPr algn="l" fontAlgn="ctr">
                        <a:buNone/>
                      </a:pPr>
                      <a:r>
                        <a:rPr lang="en-IN" sz="1700" u="none" strike="noStrike">
                          <a:effectLst/>
                        </a:rPr>
                        <a:t>Not very user-friendly</a:t>
                      </a:r>
                      <a:endParaRPr lang="en-IN" sz="17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a:effectLst/>
                        </a:rPr>
                        <a:t>Rule creation requires some code or builder pattern — not simple YAML.</a:t>
                      </a:r>
                      <a:endParaRPr lang="en-US" sz="17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173868182"/>
                  </a:ext>
                </a:extLst>
              </a:tr>
              <a:tr h="598929">
                <a:tc rowSpan="3">
                  <a:txBody>
                    <a:bodyPr/>
                    <a:lstStyle/>
                    <a:p>
                      <a:pPr algn="ctr" fontAlgn="ctr">
                        <a:buNone/>
                      </a:pPr>
                      <a:r>
                        <a:rPr lang="en-IN" sz="1700" u="none" strike="noStrike" dirty="0">
                          <a:effectLst/>
                        </a:rPr>
                        <a:t>Great Expectations (GE)</a:t>
                      </a:r>
                      <a:endParaRPr lang="en-IN" sz="17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dirty="0">
                          <a:effectLst/>
                        </a:rPr>
                        <a:t>No support for conditional logic</a:t>
                      </a:r>
                      <a:endParaRPr lang="en-US" sz="17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a:effectLst/>
                        </a:rPr>
                        <a:t>You can’t easily write logic like “if A then B” or complex multi-column checks.</a:t>
                      </a:r>
                      <a:endParaRPr lang="en-US" sz="17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77088167"/>
                  </a:ext>
                </a:extLst>
              </a:tr>
              <a:tr h="598929">
                <a:tc vMerge="1">
                  <a:txBody>
                    <a:bodyPr/>
                    <a:lstStyle/>
                    <a:p>
                      <a:endParaRPr lang="en-IN"/>
                    </a:p>
                  </a:txBody>
                  <a:tcPr/>
                </a:tc>
                <a:tc>
                  <a:txBody>
                    <a:bodyPr/>
                    <a:lstStyle/>
                    <a:p>
                      <a:pPr algn="l" fontAlgn="ctr">
                        <a:buNone/>
                      </a:pPr>
                      <a:r>
                        <a:rPr lang="en-US" sz="1700" u="none" strike="noStrike" dirty="0">
                          <a:effectLst/>
                        </a:rPr>
                        <a:t>Verbose and rigid YAML syntax</a:t>
                      </a:r>
                      <a:endParaRPr lang="en-US" sz="17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dirty="0">
                          <a:effectLst/>
                        </a:rPr>
                        <a:t>Each check becomes lengthy and specific; poor readability for large sets of rules.</a:t>
                      </a:r>
                      <a:endParaRPr lang="en-US" sz="17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567153039"/>
                  </a:ext>
                </a:extLst>
              </a:tr>
              <a:tr h="645685">
                <a:tc vMerge="1">
                  <a:txBody>
                    <a:bodyPr/>
                    <a:lstStyle/>
                    <a:p>
                      <a:endParaRPr lang="en-IN"/>
                    </a:p>
                  </a:txBody>
                  <a:tcPr/>
                </a:tc>
                <a:tc>
                  <a:txBody>
                    <a:bodyPr/>
                    <a:lstStyle/>
                    <a:p>
                      <a:pPr algn="l" fontAlgn="ctr">
                        <a:buNone/>
                      </a:pPr>
                      <a:r>
                        <a:rPr lang="en-US" sz="1700" u="none" strike="noStrike" dirty="0">
                          <a:effectLst/>
                        </a:rPr>
                        <a:t>Limited for integration in orchestrated pipelines</a:t>
                      </a:r>
                      <a:endParaRPr lang="en-US" sz="17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dirty="0">
                          <a:effectLst/>
                        </a:rPr>
                        <a:t>Doesn’t naturally plug into Airflow, </a:t>
                      </a:r>
                      <a:r>
                        <a:rPr lang="en-US" sz="1700" u="none" strike="noStrike" dirty="0" err="1">
                          <a:effectLst/>
                        </a:rPr>
                        <a:t>dbt</a:t>
                      </a:r>
                      <a:r>
                        <a:rPr lang="en-US" sz="1700" u="none" strike="noStrike" dirty="0">
                          <a:effectLst/>
                        </a:rPr>
                        <a:t>, etc., unless wrapped manually.</a:t>
                      </a:r>
                      <a:endParaRPr lang="en-US" sz="17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532297367"/>
                  </a:ext>
                </a:extLst>
              </a:tr>
            </a:tbl>
          </a:graphicData>
        </a:graphic>
      </p:graphicFrame>
    </p:spTree>
    <p:extLst>
      <p:ext uri="{BB962C8B-B14F-4D97-AF65-F5344CB8AC3E}">
        <p14:creationId xmlns:p14="http://schemas.microsoft.com/office/powerpoint/2010/main" val="956921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46D4D-4D60-2EC1-C3D1-B757D0557DF0}"/>
              </a:ext>
            </a:extLst>
          </p:cNvPr>
          <p:cNvSpPr>
            <a:spLocks noGrp="1"/>
          </p:cNvSpPr>
          <p:nvPr>
            <p:ph type="title"/>
          </p:nvPr>
        </p:nvSpPr>
        <p:spPr/>
        <p:txBody>
          <a:bodyPr/>
          <a:lstStyle/>
          <a:p>
            <a:r>
              <a:rPr lang="en-US" dirty="0"/>
              <a:t>How </a:t>
            </a:r>
            <a:r>
              <a:rPr lang="en-US" dirty="0" err="1"/>
              <a:t>AutoDQ</a:t>
            </a:r>
            <a:r>
              <a:rPr lang="en-US" dirty="0"/>
              <a:t> Fixes These Gaps</a:t>
            </a:r>
            <a:endParaRPr lang="en-IN" dirty="0"/>
          </a:p>
        </p:txBody>
      </p:sp>
      <p:graphicFrame>
        <p:nvGraphicFramePr>
          <p:cNvPr id="4" name="Content Placeholder 3">
            <a:extLst>
              <a:ext uri="{FF2B5EF4-FFF2-40B4-BE49-F238E27FC236}">
                <a16:creationId xmlns:a16="http://schemas.microsoft.com/office/drawing/2014/main" id="{EFD091D9-BBCE-38CE-042C-1A251D2DDD0F}"/>
              </a:ext>
            </a:extLst>
          </p:cNvPr>
          <p:cNvGraphicFramePr>
            <a:graphicFrameLocks noGrp="1"/>
          </p:cNvGraphicFramePr>
          <p:nvPr>
            <p:ph idx="1"/>
            <p:extLst>
              <p:ext uri="{D42A27DB-BD31-4B8C-83A1-F6EECF244321}">
                <p14:modId xmlns:p14="http://schemas.microsoft.com/office/powerpoint/2010/main" val="1613371339"/>
              </p:ext>
            </p:extLst>
          </p:nvPr>
        </p:nvGraphicFramePr>
        <p:xfrm>
          <a:off x="1225799" y="2030931"/>
          <a:ext cx="9910630" cy="3608059"/>
        </p:xfrm>
        <a:graphic>
          <a:graphicData uri="http://schemas.openxmlformats.org/drawingml/2006/table">
            <a:tbl>
              <a:tblPr firstRow="1" bandRow="1">
                <a:tableStyleId>{775DCB02-9BB8-47FD-8907-85C794F793BA}</a:tableStyleId>
              </a:tblPr>
              <a:tblGrid>
                <a:gridCol w="1676601">
                  <a:extLst>
                    <a:ext uri="{9D8B030D-6E8A-4147-A177-3AD203B41FA5}">
                      <a16:colId xmlns:a16="http://schemas.microsoft.com/office/drawing/2014/main" val="207270906"/>
                    </a:ext>
                  </a:extLst>
                </a:gridCol>
                <a:gridCol w="3252353">
                  <a:extLst>
                    <a:ext uri="{9D8B030D-6E8A-4147-A177-3AD203B41FA5}">
                      <a16:colId xmlns:a16="http://schemas.microsoft.com/office/drawing/2014/main" val="3402164447"/>
                    </a:ext>
                  </a:extLst>
                </a:gridCol>
                <a:gridCol w="4981676">
                  <a:extLst>
                    <a:ext uri="{9D8B030D-6E8A-4147-A177-3AD203B41FA5}">
                      <a16:colId xmlns:a16="http://schemas.microsoft.com/office/drawing/2014/main" val="1269079916"/>
                    </a:ext>
                  </a:extLst>
                </a:gridCol>
              </a:tblGrid>
              <a:tr h="398906">
                <a:tc>
                  <a:txBody>
                    <a:bodyPr/>
                    <a:lstStyle/>
                    <a:p>
                      <a:pPr algn="ctr" fontAlgn="ctr">
                        <a:buNone/>
                      </a:pPr>
                      <a:r>
                        <a:rPr lang="en-IN" sz="1700" b="1" u="none" strike="noStrike" dirty="0">
                          <a:effectLst/>
                        </a:rPr>
                        <a:t>Feature</a:t>
                      </a:r>
                      <a:endParaRPr lang="en-IN" sz="17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700" b="1" u="none" strike="noStrike" dirty="0">
                          <a:effectLst/>
                        </a:rPr>
                        <a:t>What You Add</a:t>
                      </a:r>
                      <a:endParaRPr lang="en-IN" sz="17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700" b="1" u="none" strike="noStrike" dirty="0">
                          <a:effectLst/>
                        </a:rPr>
                        <a:t>Why It’s Better</a:t>
                      </a:r>
                      <a:endParaRPr lang="en-IN" sz="17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57796289"/>
                  </a:ext>
                </a:extLst>
              </a:tr>
              <a:tr h="712187">
                <a:tc>
                  <a:txBody>
                    <a:bodyPr/>
                    <a:lstStyle/>
                    <a:p>
                      <a:pPr algn="l" fontAlgn="ctr">
                        <a:buNone/>
                      </a:pPr>
                      <a:r>
                        <a:rPr lang="en-IN" sz="1700" u="none" strike="noStrike">
                          <a:effectLst/>
                        </a:rPr>
                        <a:t>Generic Engine</a:t>
                      </a:r>
                      <a:endParaRPr lang="en-IN" sz="17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IN" sz="1700" u="none" strike="noStrike" dirty="0">
                          <a:effectLst/>
                        </a:rPr>
                        <a:t>Supports Pandas, </a:t>
                      </a:r>
                      <a:r>
                        <a:rPr lang="en-IN" sz="1700" u="none" strike="noStrike" dirty="0" err="1">
                          <a:effectLst/>
                        </a:rPr>
                        <a:t>SQLAlchemy</a:t>
                      </a:r>
                      <a:r>
                        <a:rPr lang="en-IN" sz="1700" u="none" strike="noStrike" dirty="0">
                          <a:effectLst/>
                        </a:rPr>
                        <a:t>, </a:t>
                      </a:r>
                      <a:r>
                        <a:rPr lang="en-IN" sz="1700" u="none" strike="noStrike" dirty="0" err="1">
                          <a:effectLst/>
                        </a:rPr>
                        <a:t>PySpark</a:t>
                      </a:r>
                      <a:endParaRPr lang="en-IN" sz="17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dirty="0">
                          <a:effectLst/>
                        </a:rPr>
                        <a:t>Wider adoption across teams and stack types.</a:t>
                      </a:r>
                      <a:endParaRPr lang="en-US" sz="17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76345149"/>
                  </a:ext>
                </a:extLst>
              </a:tr>
              <a:tr h="712187">
                <a:tc>
                  <a:txBody>
                    <a:bodyPr/>
                    <a:lstStyle/>
                    <a:p>
                      <a:pPr algn="l" fontAlgn="ctr">
                        <a:buNone/>
                      </a:pPr>
                      <a:r>
                        <a:rPr lang="en-IN" sz="1700" u="none" strike="noStrike" dirty="0">
                          <a:effectLst/>
                        </a:rPr>
                        <a:t>Rich DSL</a:t>
                      </a:r>
                      <a:endParaRPr lang="en-IN" sz="17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IN" sz="1700" u="none" strike="noStrike" dirty="0">
                          <a:effectLst/>
                        </a:rPr>
                        <a:t>Expressive, readable, concise YAML syntax</a:t>
                      </a:r>
                      <a:endParaRPr lang="en-IN" sz="17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a:effectLst/>
                        </a:rPr>
                        <a:t>Easier for PMs and analysts to define rules.</a:t>
                      </a:r>
                      <a:endParaRPr lang="en-US" sz="17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90147866"/>
                  </a:ext>
                </a:extLst>
              </a:tr>
              <a:tr h="712187">
                <a:tc>
                  <a:txBody>
                    <a:bodyPr/>
                    <a:lstStyle/>
                    <a:p>
                      <a:pPr algn="l" fontAlgn="ctr">
                        <a:buNone/>
                      </a:pPr>
                      <a:r>
                        <a:rPr lang="en-IN" sz="1700" u="none" strike="noStrike">
                          <a:effectLst/>
                        </a:rPr>
                        <a:t>Cross-column &amp; temporal logic</a:t>
                      </a:r>
                      <a:endParaRPr lang="en-IN" sz="17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dirty="0">
                          <a:effectLst/>
                        </a:rPr>
                        <a:t>Support rules like IF condition THEN expectation</a:t>
                      </a:r>
                      <a:endParaRPr lang="en-US" sz="17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dirty="0">
                          <a:effectLst/>
                        </a:rPr>
                        <a:t>Fills the biggest functional gap in GE/</a:t>
                      </a:r>
                      <a:r>
                        <a:rPr lang="en-US" sz="1700" u="none" strike="noStrike" dirty="0" err="1">
                          <a:effectLst/>
                        </a:rPr>
                        <a:t>Deequ</a:t>
                      </a:r>
                      <a:r>
                        <a:rPr lang="en-US" sz="1700" u="none" strike="noStrike" dirty="0">
                          <a:effectLst/>
                        </a:rPr>
                        <a:t>.</a:t>
                      </a:r>
                      <a:endParaRPr lang="en-US" sz="17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516629731"/>
                  </a:ext>
                </a:extLst>
              </a:tr>
              <a:tr h="360405">
                <a:tc>
                  <a:txBody>
                    <a:bodyPr/>
                    <a:lstStyle/>
                    <a:p>
                      <a:pPr algn="l" fontAlgn="ctr">
                        <a:buNone/>
                      </a:pPr>
                      <a:r>
                        <a:rPr lang="en-IN" sz="1700" u="none" strike="noStrike">
                          <a:effectLst/>
                        </a:rPr>
                        <a:t>Modular</a:t>
                      </a:r>
                      <a:endParaRPr lang="en-IN" sz="17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IN" sz="1700" u="none" strike="noStrike">
                          <a:effectLst/>
                        </a:rPr>
                        <a:t>CLI, API, UI, orchestration plug-ins</a:t>
                      </a:r>
                      <a:endParaRPr lang="en-IN" sz="17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a:effectLst/>
                        </a:rPr>
                        <a:t>Enables smooth integration in production workflows.</a:t>
                      </a:r>
                      <a:endParaRPr lang="en-US" sz="17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342461551"/>
                  </a:ext>
                </a:extLst>
              </a:tr>
              <a:tr h="712187">
                <a:tc>
                  <a:txBody>
                    <a:bodyPr/>
                    <a:lstStyle/>
                    <a:p>
                      <a:pPr algn="l" fontAlgn="ctr">
                        <a:buNone/>
                      </a:pPr>
                      <a:r>
                        <a:rPr lang="en-IN" sz="1700" u="none" strike="noStrike">
                          <a:effectLst/>
                        </a:rPr>
                        <a:t>Optional Auto-suggestions</a:t>
                      </a:r>
                      <a:endParaRPr lang="en-IN" sz="17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IN" sz="1700" u="none" strike="noStrike">
                          <a:effectLst/>
                        </a:rPr>
                        <a:t>Profiling-based YAML template generation</a:t>
                      </a:r>
                      <a:endParaRPr lang="en-IN" sz="17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700" u="none" strike="noStrike" dirty="0">
                          <a:effectLst/>
                        </a:rPr>
                        <a:t>Accelerates onboarding for new datasets.</a:t>
                      </a:r>
                      <a:endParaRPr lang="en-US" sz="17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106418286"/>
                  </a:ext>
                </a:extLst>
              </a:tr>
            </a:tbl>
          </a:graphicData>
        </a:graphic>
      </p:graphicFrame>
    </p:spTree>
    <p:extLst>
      <p:ext uri="{BB962C8B-B14F-4D97-AF65-F5344CB8AC3E}">
        <p14:creationId xmlns:p14="http://schemas.microsoft.com/office/powerpoint/2010/main" val="3171727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A2229-58E6-9DB6-E3F6-BE24D05F007D}"/>
              </a:ext>
            </a:extLst>
          </p:cNvPr>
          <p:cNvSpPr>
            <a:spLocks noGrp="1"/>
          </p:cNvSpPr>
          <p:nvPr>
            <p:ph type="title"/>
          </p:nvPr>
        </p:nvSpPr>
        <p:spPr/>
        <p:txBody>
          <a:bodyPr/>
          <a:lstStyle/>
          <a:p>
            <a:r>
              <a:rPr lang="en-IN" dirty="0"/>
              <a:t>System Architecture</a:t>
            </a:r>
          </a:p>
        </p:txBody>
      </p:sp>
      <p:pic>
        <p:nvPicPr>
          <p:cNvPr id="7" name="Picture 6">
            <a:extLst>
              <a:ext uri="{FF2B5EF4-FFF2-40B4-BE49-F238E27FC236}">
                <a16:creationId xmlns:a16="http://schemas.microsoft.com/office/drawing/2014/main" id="{60697FC4-DD48-E057-0246-CCEBE5A9E941}"/>
              </a:ext>
            </a:extLst>
          </p:cNvPr>
          <p:cNvPicPr>
            <a:picLocks noChangeAspect="1"/>
          </p:cNvPicPr>
          <p:nvPr/>
        </p:nvPicPr>
        <p:blipFill>
          <a:blip r:embed="rId2"/>
          <a:srcRect l="-106" t="3105" r="106" b="14489"/>
          <a:stretch>
            <a:fillRect/>
          </a:stretch>
        </p:blipFill>
        <p:spPr>
          <a:xfrm>
            <a:off x="1554479" y="1925052"/>
            <a:ext cx="9083041" cy="4446873"/>
          </a:xfrm>
          <a:prstGeom prst="rect">
            <a:avLst/>
          </a:prstGeom>
        </p:spPr>
      </p:pic>
    </p:spTree>
    <p:extLst>
      <p:ext uri="{BB962C8B-B14F-4D97-AF65-F5344CB8AC3E}">
        <p14:creationId xmlns:p14="http://schemas.microsoft.com/office/powerpoint/2010/main" val="628239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74A58-0BE5-A1DE-8929-997AD81BE867}"/>
              </a:ext>
            </a:extLst>
          </p:cNvPr>
          <p:cNvSpPr>
            <a:spLocks noGrp="1"/>
          </p:cNvSpPr>
          <p:nvPr>
            <p:ph type="title"/>
          </p:nvPr>
        </p:nvSpPr>
        <p:spPr/>
        <p:txBody>
          <a:bodyPr/>
          <a:lstStyle/>
          <a:p>
            <a:r>
              <a:rPr lang="en-IN" dirty="0"/>
              <a:t>DSL Syntax Example</a:t>
            </a:r>
          </a:p>
        </p:txBody>
      </p:sp>
      <p:sp>
        <p:nvSpPr>
          <p:cNvPr id="3" name="Content Placeholder 2">
            <a:extLst>
              <a:ext uri="{FF2B5EF4-FFF2-40B4-BE49-F238E27FC236}">
                <a16:creationId xmlns:a16="http://schemas.microsoft.com/office/drawing/2014/main" id="{53B5CA5A-05B0-F463-A691-6A9EFB98F680}"/>
              </a:ext>
            </a:extLst>
          </p:cNvPr>
          <p:cNvSpPr>
            <a:spLocks noGrp="1"/>
          </p:cNvSpPr>
          <p:nvPr>
            <p:ph idx="1"/>
          </p:nvPr>
        </p:nvSpPr>
        <p:spPr/>
        <p:txBody>
          <a:bodyPr>
            <a:noAutofit/>
          </a:bodyPr>
          <a:lstStyle/>
          <a:p>
            <a:pPr marL="0" indent="0">
              <a:spcBef>
                <a:spcPts val="0"/>
              </a:spcBef>
              <a:spcAft>
                <a:spcPts val="0"/>
              </a:spcAft>
              <a:buNone/>
            </a:pPr>
            <a:r>
              <a:rPr lang="en-US" sz="1500" b="1" dirty="0">
                <a:latin typeface="Consolas" panose="020B0609020204030204" pitchFamily="49" charset="0"/>
              </a:rPr>
              <a:t>#1. KYC Type must be valid</a:t>
            </a:r>
          </a:p>
          <a:p>
            <a:pPr>
              <a:spcBef>
                <a:spcPts val="0"/>
              </a:spcBef>
              <a:spcAft>
                <a:spcPts val="0"/>
              </a:spcAft>
            </a:pPr>
            <a:r>
              <a:rPr lang="en-US" sz="1500" dirty="0">
                <a:latin typeface="Consolas" panose="020B0609020204030204" pitchFamily="49" charset="0"/>
              </a:rPr>
              <a:t>  - name: Valid KYC Type</a:t>
            </a:r>
          </a:p>
          <a:p>
            <a:pPr>
              <a:spcBef>
                <a:spcPts val="0"/>
              </a:spcBef>
              <a:spcAft>
                <a:spcPts val="0"/>
              </a:spcAft>
            </a:pPr>
            <a:r>
              <a:rPr lang="en-US" sz="1500" dirty="0">
                <a:latin typeface="Consolas" panose="020B0609020204030204" pitchFamily="49" charset="0"/>
              </a:rPr>
              <a:t>    column: </a:t>
            </a:r>
            <a:r>
              <a:rPr lang="en-US" sz="1500" dirty="0" err="1">
                <a:latin typeface="Consolas" panose="020B0609020204030204" pitchFamily="49" charset="0"/>
              </a:rPr>
              <a:t>kyc_type</a:t>
            </a:r>
            <a:endParaRPr lang="en-US" sz="1500" dirty="0">
              <a:latin typeface="Consolas" panose="020B0609020204030204" pitchFamily="49" charset="0"/>
            </a:endParaRPr>
          </a:p>
          <a:p>
            <a:pPr>
              <a:spcBef>
                <a:spcPts val="0"/>
              </a:spcBef>
              <a:spcAft>
                <a:spcPts val="0"/>
              </a:spcAft>
            </a:pPr>
            <a:r>
              <a:rPr lang="en-US" sz="1500" dirty="0">
                <a:latin typeface="Consolas" panose="020B0609020204030204" pitchFamily="49" charset="0"/>
              </a:rPr>
              <a:t>    rule: </a:t>
            </a:r>
            <a:r>
              <a:rPr lang="en-US" sz="1500" dirty="0" err="1">
                <a:latin typeface="Consolas" panose="020B0609020204030204" pitchFamily="49" charset="0"/>
              </a:rPr>
              <a:t>one_of</a:t>
            </a:r>
            <a:endParaRPr lang="en-US" sz="1500" dirty="0">
              <a:latin typeface="Consolas" panose="020B0609020204030204" pitchFamily="49" charset="0"/>
            </a:endParaRPr>
          </a:p>
          <a:p>
            <a:pPr>
              <a:spcBef>
                <a:spcPts val="0"/>
              </a:spcBef>
              <a:spcAft>
                <a:spcPts val="0"/>
              </a:spcAft>
            </a:pPr>
            <a:r>
              <a:rPr lang="en-US" sz="1500" dirty="0">
                <a:latin typeface="Consolas" panose="020B0609020204030204" pitchFamily="49" charset="0"/>
              </a:rPr>
              <a:t>    value: [“Aadhar", “Driving License", “Voter ID", “Passport"]</a:t>
            </a:r>
          </a:p>
          <a:p>
            <a:pPr>
              <a:spcBef>
                <a:spcPts val="0"/>
              </a:spcBef>
              <a:spcAft>
                <a:spcPts val="0"/>
              </a:spcAft>
            </a:pPr>
            <a:endParaRPr lang="en-US" sz="1500" dirty="0">
              <a:latin typeface="Consolas" panose="020B0609020204030204" pitchFamily="49" charset="0"/>
            </a:endParaRPr>
          </a:p>
          <a:p>
            <a:pPr marL="0" indent="0">
              <a:spcBef>
                <a:spcPts val="0"/>
              </a:spcBef>
              <a:spcAft>
                <a:spcPts val="0"/>
              </a:spcAft>
              <a:buNone/>
            </a:pPr>
            <a:endParaRPr lang="en-US" sz="1500" dirty="0">
              <a:latin typeface="Consolas" panose="020B0609020204030204" pitchFamily="49" charset="0"/>
            </a:endParaRPr>
          </a:p>
          <a:p>
            <a:pPr marL="0" indent="0">
              <a:spcBef>
                <a:spcPts val="0"/>
              </a:spcBef>
              <a:spcAft>
                <a:spcPts val="0"/>
              </a:spcAft>
              <a:buNone/>
            </a:pPr>
            <a:r>
              <a:rPr lang="en-US" sz="1500" b="1" dirty="0">
                <a:latin typeface="Consolas" panose="020B0609020204030204" pitchFamily="49" charset="0"/>
              </a:rPr>
              <a:t>#2. Expiry date is required for DL and Passport, must be empty for others</a:t>
            </a:r>
          </a:p>
          <a:p>
            <a:pPr>
              <a:spcBef>
                <a:spcPts val="0"/>
              </a:spcBef>
              <a:spcAft>
                <a:spcPts val="0"/>
              </a:spcAft>
            </a:pPr>
            <a:r>
              <a:rPr lang="en-US" sz="1500" dirty="0">
                <a:latin typeface="Consolas" panose="020B0609020204030204" pitchFamily="49" charset="0"/>
              </a:rPr>
              <a:t>  - name: Expiry Required for DL/Passport</a:t>
            </a:r>
          </a:p>
          <a:p>
            <a:pPr>
              <a:spcBef>
                <a:spcPts val="0"/>
              </a:spcBef>
              <a:spcAft>
                <a:spcPts val="0"/>
              </a:spcAft>
            </a:pPr>
            <a:r>
              <a:rPr lang="en-US" sz="1500" dirty="0">
                <a:latin typeface="Consolas" panose="020B0609020204030204" pitchFamily="49" charset="0"/>
              </a:rPr>
              <a:t>    rule: conditional</a:t>
            </a:r>
          </a:p>
          <a:p>
            <a:pPr>
              <a:spcBef>
                <a:spcPts val="0"/>
              </a:spcBef>
              <a:spcAft>
                <a:spcPts val="0"/>
              </a:spcAft>
            </a:pPr>
            <a:r>
              <a:rPr lang="en-US" sz="1500" dirty="0">
                <a:latin typeface="Consolas" panose="020B0609020204030204" pitchFamily="49" charset="0"/>
              </a:rPr>
              <a:t>    expression: |</a:t>
            </a:r>
          </a:p>
          <a:p>
            <a:pPr>
              <a:spcBef>
                <a:spcPts val="0"/>
              </a:spcBef>
              <a:spcAft>
                <a:spcPts val="0"/>
              </a:spcAft>
            </a:pPr>
            <a:r>
              <a:rPr lang="en-US" sz="1500" dirty="0">
                <a:latin typeface="Consolas" panose="020B0609020204030204" pitchFamily="49" charset="0"/>
              </a:rPr>
              <a:t>      if </a:t>
            </a:r>
            <a:r>
              <a:rPr lang="en-US" sz="1500" dirty="0" err="1">
                <a:latin typeface="Consolas" panose="020B0609020204030204" pitchFamily="49" charset="0"/>
              </a:rPr>
              <a:t>kyc_type</a:t>
            </a:r>
            <a:r>
              <a:rPr lang="en-US" sz="1500" dirty="0">
                <a:latin typeface="Consolas" panose="020B0609020204030204" pitchFamily="49" charset="0"/>
              </a:rPr>
              <a:t> in [‘Driving License', ‘Passport'] then </a:t>
            </a:r>
            <a:r>
              <a:rPr lang="en-US" sz="1500" dirty="0" err="1">
                <a:latin typeface="Consolas" panose="020B0609020204030204" pitchFamily="49" charset="0"/>
              </a:rPr>
              <a:t>kyc_expiry</a:t>
            </a:r>
            <a:r>
              <a:rPr lang="en-US" sz="1500" dirty="0">
                <a:latin typeface="Consolas" panose="020B0609020204030204" pitchFamily="49" charset="0"/>
              </a:rPr>
              <a:t> is not null</a:t>
            </a:r>
          </a:p>
          <a:p>
            <a:pPr>
              <a:spcBef>
                <a:spcPts val="0"/>
              </a:spcBef>
              <a:spcAft>
                <a:spcPts val="0"/>
              </a:spcAft>
            </a:pPr>
            <a:r>
              <a:rPr lang="en-US" sz="1500" dirty="0">
                <a:latin typeface="Consolas" panose="020B0609020204030204" pitchFamily="49" charset="0"/>
              </a:rPr>
              <a:t>      else </a:t>
            </a:r>
            <a:r>
              <a:rPr lang="en-US" sz="1500" dirty="0" err="1">
                <a:latin typeface="Consolas" panose="020B0609020204030204" pitchFamily="49" charset="0"/>
              </a:rPr>
              <a:t>kyc_expiry</a:t>
            </a:r>
            <a:r>
              <a:rPr lang="en-US" sz="1500" dirty="0">
                <a:latin typeface="Consolas" panose="020B0609020204030204" pitchFamily="49" charset="0"/>
              </a:rPr>
              <a:t> is null</a:t>
            </a:r>
          </a:p>
        </p:txBody>
      </p:sp>
    </p:spTree>
    <p:extLst>
      <p:ext uri="{BB962C8B-B14F-4D97-AF65-F5344CB8AC3E}">
        <p14:creationId xmlns:p14="http://schemas.microsoft.com/office/powerpoint/2010/main" val="3946162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724B4-3654-20C0-B934-B2572FAF92F6}"/>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F54E210A-0998-72AF-7711-3D8C54260049}"/>
              </a:ext>
            </a:extLst>
          </p:cNvPr>
          <p:cNvSpPr>
            <a:spLocks noGrp="1"/>
          </p:cNvSpPr>
          <p:nvPr>
            <p:ph idx="1"/>
          </p:nvPr>
        </p:nvSpPr>
        <p:spPr/>
        <p:txBody>
          <a:bodyPr>
            <a:noAutofit/>
          </a:bodyPr>
          <a:lstStyle/>
          <a:p>
            <a:pPr algn="just"/>
            <a:r>
              <a:rPr lang="en-US" sz="1700" dirty="0"/>
              <a:t>The framework enables users to define data quality rules in a clear, human-readable format without writing complex code. This lowers the entry barrier for analysts, domain experts, and data stewards to participate directly in enforcing data quality standards. The DSL (Domain-Specific Language) offers a compact syntax to express validations with high precision and readability.</a:t>
            </a:r>
          </a:p>
          <a:p>
            <a:pPr algn="just"/>
            <a:r>
              <a:rPr lang="en-US" sz="1700" dirty="0"/>
              <a:t>It supports a wide range of validation types, including schema checks (like data type enforcement and null restrictions), logical conditions across multiple fields, pattern matching using regular expressions, detection of statistical anomalies, and temporal consistency checks. These rule types cover both structural and semantic aspects of data quality, ensuring comprehensive coverage across domains.</a:t>
            </a:r>
          </a:p>
          <a:p>
            <a:pPr algn="just"/>
            <a:r>
              <a:rPr lang="en-US" sz="1700" dirty="0"/>
              <a:t>A lightweight, modular rule execution engine interprets these DSL-defined rules and applies them efficiently across different data platforms. Whether working with flat files, relational databases, or data lakes, the engine ensures scalable and consistent rule application, making it suitable for enterprise-grade data validation workflows.</a:t>
            </a:r>
          </a:p>
        </p:txBody>
      </p:sp>
    </p:spTree>
    <p:extLst>
      <p:ext uri="{BB962C8B-B14F-4D97-AF65-F5344CB8AC3E}">
        <p14:creationId xmlns:p14="http://schemas.microsoft.com/office/powerpoint/2010/main" val="2871527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642BB-4051-63BF-C2B9-A658641DAB4F}"/>
              </a:ext>
            </a:extLst>
          </p:cNvPr>
          <p:cNvSpPr>
            <a:spLocks noGrp="1"/>
          </p:cNvSpPr>
          <p:nvPr>
            <p:ph type="title"/>
          </p:nvPr>
        </p:nvSpPr>
        <p:spPr>
          <a:xfrm>
            <a:off x="3207619" y="2361799"/>
            <a:ext cx="5776762" cy="2134402"/>
          </a:xfrm>
        </p:spPr>
        <p:txBody>
          <a:bodyPr>
            <a:noAutofit/>
          </a:bodyPr>
          <a:lstStyle/>
          <a:p>
            <a:r>
              <a:rPr lang="en-US" sz="8500" b="1" dirty="0"/>
              <a:t>Thankyou</a:t>
            </a:r>
            <a:endParaRPr lang="en-IN" sz="8500" b="1" dirty="0"/>
          </a:p>
        </p:txBody>
      </p:sp>
    </p:spTree>
    <p:extLst>
      <p:ext uri="{BB962C8B-B14F-4D97-AF65-F5344CB8AC3E}">
        <p14:creationId xmlns:p14="http://schemas.microsoft.com/office/powerpoint/2010/main" val="997917481"/>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9DAD249-BF80-48EF-9AFB-36A11BCDC2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{8136B770-D3F4-4613-BDD2-69F32F6DA35C}tf56160789_win32</Template>
  <TotalTime>59</TotalTime>
  <Words>1338</Words>
  <Application>Microsoft Office PowerPoint</Application>
  <PresentationFormat>Widescreen</PresentationFormat>
  <Paragraphs>110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Bookman Old Style</vt:lpstr>
      <vt:lpstr>Calibri</vt:lpstr>
      <vt:lpstr>Consolas</vt:lpstr>
      <vt:lpstr>Franklin Gothic Book</vt:lpstr>
      <vt:lpstr>Custom</vt:lpstr>
      <vt:lpstr>AutoDQ: A Configurable DSL Framework for Enterprise Data Quality Validation</vt:lpstr>
      <vt:lpstr>Abstract</vt:lpstr>
      <vt:lpstr>Motivation</vt:lpstr>
      <vt:lpstr>Problem Statement</vt:lpstr>
      <vt:lpstr>Objectives</vt:lpstr>
      <vt:lpstr>Literature Survey</vt:lpstr>
      <vt:lpstr>Gaps in Current Tools</vt:lpstr>
      <vt:lpstr>How AutoDQ Fixes These Gaps</vt:lpstr>
      <vt:lpstr>System Architecture</vt:lpstr>
      <vt:lpstr>DSL Syntax Example</vt:lpstr>
      <vt:lpstr>Conclusion</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Aneerban Chowdhury</dc:creator>
  <cp:lastModifiedBy>Aneerban Chowdhury</cp:lastModifiedBy>
  <cp:revision>1</cp:revision>
  <dcterms:created xsi:type="dcterms:W3CDTF">2025-07-12T14:34:14Z</dcterms:created>
  <dcterms:modified xsi:type="dcterms:W3CDTF">2025-07-12T15:34:05Z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